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การรู้จำตัวอักษรและตัวเลขไทย 72 คลาส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88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ด้วย CNN + Transfer Learning + Data Augmentation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4348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FD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99.02%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349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RATE — VALIDATION 20%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52360" y="4206240"/>
            <a:ext cx="4206240" cy="2148840"/>
          </a:xfrm>
          <a:prstGeom prst="roundRect">
            <a:avLst>
              <a:gd name="adj" fmla="val 5106"/>
            </a:avLst>
          </a:prstGeom>
          <a:solidFill>
            <a:srgbClr val="1229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26680" y="43708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สมาชิกในกลุ่ม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26680" y="4709160"/>
            <a:ext cx="3703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ชื่อ-นามสกุล 1 — รหัสนักศึกษา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ชื่อ-นามสกุล 2 — รหัสนักศึกษา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ชื่อ-นามสกุล 3 — รหัสนักศึกษา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ชื่อ-นามสกุล 4 — รหัสนักศึกษา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217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KMITL · นำเสนอ 25 ก.ย. 69 · ห้อง 304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ชุดข้อมูล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 คลาส ครอบคลุมพยัญชนะ สระ วรรณยุกต์ และเลขไทย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14600" cy="1051560"/>
          </a:xfrm>
          <a:prstGeom prst="roundRect">
            <a:avLst>
              <a:gd name="adj" fmla="val 10435"/>
            </a:avLst>
          </a:prstGeom>
          <a:solidFill>
            <a:srgbClr val="F3F6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874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8C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505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จำนวนคลาส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783080"/>
            <a:ext cx="2514600" cy="1051560"/>
          </a:xfrm>
          <a:prstGeom prst="roundRect">
            <a:avLst>
              <a:gd name="adj" fmla="val 10435"/>
            </a:avLst>
          </a:prstGeom>
          <a:solidFill>
            <a:srgbClr val="F3F6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83280" y="1874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8C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59,942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4505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ภาพที่ใช้ได้ (จาก 62,707)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1783080"/>
            <a:ext cx="2514600" cy="1051560"/>
          </a:xfrm>
          <a:prstGeom prst="roundRect">
            <a:avLst>
              <a:gd name="adj" fmla="val 10435"/>
            </a:avLst>
          </a:prstGeom>
          <a:solidFill>
            <a:srgbClr val="F3F6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080760" y="1874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8C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3,855 : 1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080760" y="24505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คลาสมากสุด : น้อยสุด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41080" y="1783080"/>
            <a:ext cx="2514600" cy="1051560"/>
          </a:xfrm>
          <a:prstGeom prst="roundRect">
            <a:avLst>
              <a:gd name="adj" fmla="val 10435"/>
            </a:avLst>
          </a:prstGeom>
          <a:solidFill>
            <a:srgbClr val="F3F6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78240" y="1874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8C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171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778240" y="24505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ภาพ/คลาส (มัธยฐาน)</a:t>
            </a:r>
            <a:endParaRPr lang="en-US" sz="1100" dirty="0"/>
          </a:p>
        </p:txBody>
      </p:sp>
      <p:pic>
        <p:nvPicPr>
          <p:cNvPr id="16" name="Image 0" descr="/Users/admin/Project/thaichar72/reports/eda/class_mont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063240"/>
            <a:ext cx="5760720" cy="306324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48640" y="61722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ตัวอย่างข้อมูลแต่ละคลาส</a:t>
            </a:r>
            <a:endParaRPr lang="en-US" sz="1100" dirty="0"/>
          </a:p>
        </p:txBody>
      </p:sp>
      <p:pic>
        <p:nvPicPr>
          <p:cNvPr id="18" name="Image 1" descr="/Users/admin/Project/thaichar72/reports/eda/class_distribut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0" y="3063240"/>
            <a:ext cx="5257800" cy="30632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400800" y="617220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จำนวนข้อมูลแต่ละคลาส — ข้อมูลไม่สมดุลสูง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ความท้าทายของชุดข้อมูล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ความท้าทายที่ต้องแก้ก่อนเทรน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1672" cy="713232"/>
          </a:xfrm>
          <a:prstGeom prst="roundRect">
            <a:avLst>
              <a:gd name="adj" fmla="val 12821"/>
            </a:avLst>
          </a:prstGeom>
          <a:solidFill>
            <a:srgbClr val="F3F6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29384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8C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929384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ข้อมูลไม่สมดุล 3,855 : 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897880" y="1929384"/>
            <a:ext cx="5513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คลาสมีไม่ถึง 50 ภาพ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11091672" cy="713232"/>
          </a:xfrm>
          <a:prstGeom prst="roundRect">
            <a:avLst>
              <a:gd name="adj" fmla="val 12821"/>
            </a:avLst>
          </a:prstGeom>
          <a:solidFill>
            <a:srgbClr val="F3F6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770632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8C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277063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ตัวอักษรคล้ายกันมาก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897880" y="2770632"/>
            <a:ext cx="5513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า ↔ ๅ, ั ↔ ้, ช ↔ ซ — แยกยากแม้คนดูเอง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11091672" cy="713232"/>
          </a:xfrm>
          <a:prstGeom prst="roundRect">
            <a:avLst>
              <a:gd name="adj" fmla="val 12821"/>
            </a:avLst>
          </a:prstGeom>
          <a:solidFill>
            <a:srgbClr val="F3F6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611880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8C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61188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 label ผิดในชุดข้อมูลต้นทาง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3611880"/>
            <a:ext cx="5513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ตรวจแล้วแก้ไข 629 + 146 จุด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98264"/>
            <a:ext cx="11091672" cy="713232"/>
          </a:xfrm>
          <a:prstGeom prst="roundRect">
            <a:avLst>
              <a:gd name="adj" fmla="val 12821"/>
            </a:avLst>
          </a:prstGeom>
          <a:solidFill>
            <a:srgbClr val="F3F6F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453128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8C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4453128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ภาพเล็กมาก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4453128"/>
            <a:ext cx="5513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8.5% ของภาพสูงไม่ถึง 12 พิกเซล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239512"/>
            <a:ext cx="11091672" cy="713232"/>
          </a:xfrm>
          <a:prstGeom prst="roundRect">
            <a:avLst>
              <a:gd name="adj" fmla="val 12821"/>
            </a:avLst>
          </a:prstGeom>
          <a:solidFill>
            <a:srgbClr val="F3F6F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294376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8C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5294376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มาจากเอกสารไม่กี่ฉบับ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897880" y="5294376"/>
            <a:ext cx="5513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ทั่วไปอาจดูดีเกินจริง → นำไปสู่การแบ่งชุดที่สอง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การแบ่งข้อมูล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แบ่ง Train : Validation = 80 : 20 พร้อมชุดตรวจสอบที่สอง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8873338" cy="822960"/>
          </a:xfrm>
          <a:prstGeom prst="roundRect">
            <a:avLst>
              <a:gd name="adj" fmla="val 8889"/>
            </a:avLst>
          </a:prstGeom>
          <a:solidFill>
            <a:srgbClr val="0B3D5C"/>
          </a:solidFill>
          <a:ln/>
        </p:spPr>
      </p:sp>
      <p:sp>
        <p:nvSpPr>
          <p:cNvPr id="5" name="Shape 3"/>
          <p:cNvSpPr/>
          <p:nvPr/>
        </p:nvSpPr>
        <p:spPr>
          <a:xfrm>
            <a:off x="9458554" y="2011680"/>
            <a:ext cx="2181758" cy="822960"/>
          </a:xfrm>
          <a:prstGeom prst="roundRect">
            <a:avLst>
              <a:gd name="adj" fmla="val 8889"/>
            </a:avLst>
          </a:prstGeom>
          <a:solidFill>
            <a:srgbClr val="2FD9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011680"/>
            <a:ext cx="85075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— 47,949 ภาพ (80%)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513418" y="2011680"/>
            <a:ext cx="20354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718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59,942 ภาพ  →  stratified แบ่งแยกในแต่ละคลาส, seed 42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03320"/>
          <a:ext cx="11091672" cy="1920240"/>
        </p:xfrm>
        <a:graphic>
          <a:graphicData uri="http://schemas.openxmlformats.org/drawingml/2006/table">
            <a:tbl>
              <a:tblPr/>
              <a:tblGrid>
                <a:gridCol w="2743200"/>
                <a:gridCol w="4174236"/>
                <a:gridCol w="4174236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28C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stratified 80:20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E05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doc-disjoint (เพิ่มเอง)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แบ่งตาม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รายภาพ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รายเอกสาร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วัดอะไร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จำของที่คล้ายเคยเห็น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อ่านเอกสารใหม่ทั้งฉบับ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ผลลัพธ์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28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เลือกโมเดลจากชุดที่สอง (doc-disjoint) ไม่ใช่จาก validation ทั่วไปเพียงอย่างเดียว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สถาปัตยกรรม CNN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ResNet-18 + ฟีเจอร์เรขาคณิต 4 ค่า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852574" cy="1051560"/>
          </a:xfrm>
          <a:prstGeom prst="roundRect">
            <a:avLst>
              <a:gd name="adj" fmla="val 8696"/>
            </a:avLst>
          </a:prstGeom>
          <a:solidFill>
            <a:srgbClr val="F3F6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166969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ภาพ 64×64×3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401214" y="182880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58414" y="1828800"/>
            <a:ext cx="1852574" cy="1051560"/>
          </a:xfrm>
          <a:prstGeom prst="roundRect">
            <a:avLst>
              <a:gd name="adj" fmla="val 8696"/>
            </a:avLst>
          </a:prstGeom>
          <a:solidFill>
            <a:srgbClr val="0B3D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949854" y="1828800"/>
            <a:ext cx="166969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11.2M params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710989" y="182880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68189" y="1828800"/>
            <a:ext cx="1852574" cy="1051560"/>
          </a:xfrm>
          <a:prstGeom prst="roundRect">
            <a:avLst>
              <a:gd name="adj" fmla="val 8696"/>
            </a:avLst>
          </a:prstGeom>
          <a:solidFill>
            <a:srgbClr val="F3F6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59629" y="1828800"/>
            <a:ext cx="166969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 Pool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มิติ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020763" y="182880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477963" y="1828800"/>
            <a:ext cx="1852574" cy="1051560"/>
          </a:xfrm>
          <a:prstGeom prst="roundRect">
            <a:avLst>
              <a:gd name="adj" fmla="val 8696"/>
            </a:avLst>
          </a:prstGeom>
          <a:solidFill>
            <a:srgbClr val="F3F6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569403" y="1828800"/>
            <a:ext cx="166969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เรขาคณิต 4 ค่า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330538" y="182880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787738" y="1828800"/>
            <a:ext cx="1852574" cy="1051560"/>
          </a:xfrm>
          <a:prstGeom prst="roundRect">
            <a:avLst>
              <a:gd name="adj" fmla="val 8696"/>
            </a:avLst>
          </a:prstGeom>
          <a:solidFill>
            <a:srgbClr val="F3F6F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879178" y="1828800"/>
            <a:ext cx="166969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→ 72 คลาส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20040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0F2A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จุดเด่น: Residual / Skip Connection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370332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ทางลัดที่บวก input กลับเข้า output ของแต่ละบล็อก x + F(x) ทำให้ gradient ไหลย้อนกลับได้โดยไม่จางหาย เทรนโครงข่ายลึกได้จริง — จำเป็นเพราะตัวอักษรไทยหลายคู่ต่างกันแค่รายละเอียดเล็ก ๆ เช่นหัวกลมหรือหาง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46320"/>
          <a:ext cx="11091672" cy="1508760"/>
        </p:xfrm>
        <a:graphic>
          <a:graphicData uri="http://schemas.openxmlformats.org/drawingml/2006/table">
            <a:tbl>
              <a:tblPr/>
              <a:tblGrid>
                <a:gridCol w="3657600"/>
                <a:gridCol w="2843784"/>
                <a:gridCol w="2843784"/>
                <a:gridCol w="2660904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Backbone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เวลา/ภาพ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ResNet-18 (ที่เลือก)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 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 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ConvNeXt-Tiny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27.9M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ช้ากว่า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MobileNetV3-Small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 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— 1.5%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ถ่ายโอนความรู้ 2 ชั้น ไม่ใช่ชั้นเดียว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53384" cy="1600200"/>
          </a:xfrm>
          <a:prstGeom prst="roundRect">
            <a:avLst>
              <a:gd name="adj" fmla="val 5714"/>
            </a:avLst>
          </a:prstGeom>
          <a:solidFill>
            <a:srgbClr val="F3F6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8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ล้านภาพธรรมชาติ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97480"/>
            <a:ext cx="3087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ถ่ายโอนลักษณะทั่วไป: ขอบ มุม เส้นโค้ง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002024" y="1783080"/>
            <a:ext cx="365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67784" y="1783080"/>
            <a:ext cx="3453384" cy="1600200"/>
          </a:xfrm>
          <a:prstGeom prst="roundRect">
            <a:avLst>
              <a:gd name="adj" fmla="val 5714"/>
            </a:avLst>
          </a:prstGeom>
          <a:solidFill>
            <a:srgbClr val="F3F6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50664" y="192024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8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ตัวอักษรไทยสังเคราะห์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50664" y="228600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126,114 ภาพ จาก 203 ฟอนต์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50664" y="2697480"/>
            <a:ext cx="3087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ถ่ายโอนความรู้เฉพาะทาง: หน้าตาตัวอักษรไทย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821168" y="1783080"/>
            <a:ext cx="365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186928" y="1783080"/>
            <a:ext cx="3453384" cy="1600200"/>
          </a:xfrm>
          <a:prstGeom prst="roundRect">
            <a:avLst>
              <a:gd name="adj" fmla="val 5714"/>
            </a:avLst>
          </a:prstGeom>
          <a:solidFill>
            <a:srgbClr val="0B3D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69808" y="192024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ข้อมูลจริง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69808" y="228600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47,949 ภาพ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69808" y="2697480"/>
            <a:ext cx="3087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โมเดลสุดท้าย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3566160" cy="1143000"/>
          </a:xfrm>
          <a:prstGeom prst="roundRect">
            <a:avLst>
              <a:gd name="adj" fmla="val 9600"/>
            </a:avLst>
          </a:prstGeom>
          <a:solidFill>
            <a:srgbClr val="F3F6F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3794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9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93.96%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4622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บนภาพจริง — ทั้งที่ stage-1 ไม่เคยเห็นภาพจริงเลย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794760" y="3703320"/>
            <a:ext cx="78455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หลักฐานที่ทรงพลังที่สุด: โมเดล pretrain ล้วนด้วยตัวอักษรสังเคราะห์ ไม่เคยเห็นภาพจริงสักภาพ แต่วัดกับภาพจริงได้ 94% — ความรู้ถ่ายโอนได้จริง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166360"/>
          <a:ext cx="11091672" cy="1188720"/>
        </p:xfrm>
        <a:graphic>
          <a:graphicData uri="http://schemas.openxmlformats.org/drawingml/2006/table">
            <a:tbl>
              <a:tblPr/>
              <a:tblGrid>
                <a:gridCol w="7315200"/>
                <a:gridCol w="3776472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Stage-1 pretrain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บนฟอนต์ที่ไม่เคยเห็น (62 แบบ)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ฟอนต์ (สูตรเดิม)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 ฟอนต์ + ข้อมูลเสริม (ที่เลือก)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 20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— 1.5%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สังเคราะห์ภาพ + RandAugment ระหว่างเทรน</a:t>
            </a:r>
            <a:endParaRPr lang="en-US" sz="2800" dirty="0"/>
          </a:p>
        </p:txBody>
      </p:sp>
      <p:pic>
        <p:nvPicPr>
          <p:cNvPr id="4" name="Image 0" descr="/Users/admin/Project/thaichar72/reports/figures/synth_vs_re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5486400" cy="2011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สังเคราะห์จาก 203 ฟอนต์ vs ภาพจริง</a:t>
            </a:r>
            <a:endParaRPr lang="en-US" sz="1100" dirty="0"/>
          </a:p>
        </p:txBody>
      </p:sp>
      <p:pic>
        <p:nvPicPr>
          <p:cNvPr id="6" name="Image 1" descr="/Users/admin/Project/thaichar72/reports/figures/aug_exampl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1737360"/>
            <a:ext cx="5532120" cy="20116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126480" y="379476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RandAugment: สุ่ม 2 จาก 9 ops (affine, margin, stroke, blur, elastic, ...)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51960"/>
          <a:ext cx="6949440" cy="1417320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201168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สูตร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ความทนทาน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ไม่ใช้เลย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morph (ไม่มี noise)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98.55%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RandAugment (ที่เลือก)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98.39%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7223760" y="4251960"/>
            <a:ext cx="4434840" cy="1417320"/>
          </a:xfrm>
          <a:prstGeom prst="roundRect">
            <a:avLst>
              <a:gd name="adj" fmla="val 6452"/>
            </a:avLst>
          </a:prstGeom>
          <a:solidFill>
            <a:srgbClr val="3A1414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7406640" y="43708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ห้าม flip ทุกกรณี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7406640" y="46634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ตัวอักษรไทยไม่สมมาตร — วัดแล้ว: พลิกแนวตั้งทำให้ บ↔ภ และ ย↔ถ สลับกันพอดี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28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บน validation ธรรมดา augmentation แทบไม่ต่างกัน แต่ความทนทานต่อภาพเสียต่างถึง 5.6 จุด — รวมกับ transfer learning ที่ดีกว่าได้ 99.02% / ความทนทาน 0.915</a:t>
            </a:r>
            <a:endParaRPr lang="en-US" sz="1250" dirty="0"/>
          </a:p>
        </p:txBody>
      </p:sp>
      <p:sp>
        <p:nvSpPr>
          <p:cNvPr id="13" name="Text 8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ขั้นตอนการฝึกสอน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AdamW + Cosine Schedule + EMA, 20 Epochs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8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18288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AdamW, lr 1e-3, cosine schedule + warmup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8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23774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+ label smoothing 0.1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26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8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/ Epochs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9260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/ 20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74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8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เทคนิคเสริม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34747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EMA, Mixed precision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023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8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เวลา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40233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 วินาที/epoch → ทั้งการเทรน ~2.5 นาที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709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28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บันทึกทุกการทดลองไว้ 126 runs ในไฟล์เดียว ทำให้เทียบกันได้ทั้งหมด</a:t>
            </a:r>
            <a:endParaRPr lang="en-US" sz="1300" dirty="0"/>
          </a:p>
        </p:txBody>
      </p:sp>
      <p:pic>
        <p:nvPicPr>
          <p:cNvPr id="15" name="Image 0" descr="/Users/admin/Project/thaichar72/reports/figures/results/fig_training_curves_be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89520" y="1737360"/>
            <a:ext cx="4023360" cy="420624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7589520" y="5989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curves — สูตรที่เลือก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แนวคิดที่น่าสนใจ — 2%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การค้นพบจากการทดสอบความทนทาน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709160"/>
          </a:xfrm>
          <a:prstGeom prst="roundRect">
            <a:avLst>
              <a:gd name="adj" fmla="val 2330"/>
            </a:avLst>
          </a:prstGeom>
          <a:solidFill>
            <a:srgbClr val="1229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พลิกตัวอักษรไทยแล้วกลายเป็นตัวอื่น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77440"/>
          <a:ext cx="4800600" cy="1188720"/>
        </p:xfrm>
        <a:graphic>
          <a:graphicData uri="http://schemas.openxmlformats.org/drawingml/2006/table">
            <a:tbl>
              <a:tblPr/>
              <a:tblGrid>
                <a:gridCol w="1920240"/>
                <a:gridCol w="2880360"/>
              </a:tblGrid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การแปลง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กลายเป็น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กระจกแนวตั้ง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บ↔ภ, ย↔ถ (สลับกันพอดี)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กระจกแนวนอน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า→ก, แ→ม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กลับหัว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ว→ย, ิ→ั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22960" y="374904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วัดจริงทั้ง 72 คลาส พบ 127 กรณีที่กลายเป็นตัวอักษรไทยอีกตัวแบบมั่นใจสูง — ผิดแบบเงียบ ๆ อันตรายกว่าผิดแบบไม่มั่นใจ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9377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05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127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2468880" y="5074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คู่คลาสที่พลิกแล้วกลาย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เป็นตัวอักษรอื่นแบบมั่นใจ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72200" y="1600200"/>
            <a:ext cx="5349240" cy="4709160"/>
          </a:xfrm>
          <a:prstGeom prst="roundRect">
            <a:avLst>
              <a:gd name="adj" fmla="val 2330"/>
            </a:avLst>
          </a:prstGeom>
          <a:solidFill>
            <a:srgbClr val="12294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46520" y="17830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Rotation Search: แก้จุดอ่อนโดยไม่ต้องเทรนใหม่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23317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กระดาษเอียง 30° → accuracy ตกจาก 99% เหลือ 52% แนวคิด: มุมที่โมเดลมั่นใจที่สุด = มุมที่ตั้งตรง จึงหมุนภาพทีละมุมแล้วเลือกคำตอบที่มั่นใจสุด</a:t>
            </a:r>
            <a:endParaRPr lang="en-US" sz="12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3337560"/>
          <a:ext cx="4800600" cy="960120"/>
        </p:xfrm>
        <a:graphic>
          <a:graphicData uri="http://schemas.openxmlformats.org/drawingml/2006/table">
            <a:tbl>
              <a:tblPr/>
              <a:tblGrid>
                <a:gridCol w="1463040"/>
                <a:gridCol w="1115568"/>
                <a:gridCol w="1115568"/>
                <a:gridCol w="1106424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ตั้งตรง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หมุน 30°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หมุน 45°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ไม่ใช้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98.58%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51.93%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ใช้ (ที่เลือก)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98.58%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89.66%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84.79%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6446520" y="44348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ทำเฉพาะภาพที่ไม่มั่นใจ + เปลี่ยนคำตอบเมื่อมุมใหม่ชนะมากพอ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446520" y="49377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D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+38 ถึง +75</a:t>
            </a:r>
            <a:endParaRPr lang="en-US" sz="3600" dirty="0"/>
          </a:p>
        </p:txBody>
      </p:sp>
      <p:sp>
        <p:nvSpPr>
          <p:cNvPr id="16" name="Text 12"/>
          <p:cNvSpPr txBox="1"/>
          <p:nvPr/>
        </p:nvSpPr>
        <p:spPr>
          <a:xfrm>
            <a:off x="8823960" y="50749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จุด Accuracy คืนมา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โดยไม่เสียกับภาพปกติ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ผลลัพธ์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Rate 99.02% บน Validation 20%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72030" cy="1234440"/>
          </a:xfrm>
          <a:prstGeom prst="roundRect">
            <a:avLst>
              <a:gd name="adj" fmla="val 7407"/>
            </a:avLst>
          </a:prstGeom>
          <a:solidFill>
            <a:srgbClr val="F3F6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47088"/>
            <a:ext cx="18891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8C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99.02%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50592"/>
            <a:ext cx="18891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Rate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(Validation)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803550" y="1783080"/>
            <a:ext cx="2072030" cy="1234440"/>
          </a:xfrm>
          <a:prstGeom prst="roundRect">
            <a:avLst>
              <a:gd name="adj" fmla="val 7407"/>
            </a:avLst>
          </a:prstGeom>
          <a:solidFill>
            <a:srgbClr val="F3F6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94990" y="1847088"/>
            <a:ext cx="18891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8C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99.34%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894990" y="2450592"/>
            <a:ext cx="18891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58461" y="1783080"/>
            <a:ext cx="2072030" cy="1234440"/>
          </a:xfrm>
          <a:prstGeom prst="roundRect">
            <a:avLst>
              <a:gd name="adj" fmla="val 7407"/>
            </a:avLst>
          </a:prstGeom>
          <a:solidFill>
            <a:srgbClr val="F3F6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49901" y="1847088"/>
            <a:ext cx="18891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8C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99.12%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149901" y="2450592"/>
            <a:ext cx="18891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3371" y="1783080"/>
            <a:ext cx="2072030" cy="1234440"/>
          </a:xfrm>
          <a:prstGeom prst="roundRect">
            <a:avLst>
              <a:gd name="adj" fmla="val 7407"/>
            </a:avLst>
          </a:prstGeom>
          <a:solidFill>
            <a:srgbClr val="F3F6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04811" y="1847088"/>
            <a:ext cx="18891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8C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98.72%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404811" y="2450592"/>
            <a:ext cx="18891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(doc-disjoint)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568282" y="1783080"/>
            <a:ext cx="2072030" cy="1234440"/>
          </a:xfrm>
          <a:prstGeom prst="roundRect">
            <a:avLst>
              <a:gd name="adj" fmla="val 7407"/>
            </a:avLst>
          </a:prstGeom>
          <a:solidFill>
            <a:srgbClr val="F3F6F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59722" y="1847088"/>
            <a:ext cx="18891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8C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0.9153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659722" y="2450592"/>
            <a:ext cx="18891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ความทนทาน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(33 สภาพภาพเสีย)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1546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28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seeds: 98.99 ± 0.04% — เสถียร ไม่ overfit เฉพาะ seed เดียว</a:t>
            </a:r>
            <a:endParaRPr lang="en-US" sz="1250" dirty="0"/>
          </a:p>
        </p:txBody>
      </p:sp>
      <p:pic>
        <p:nvPicPr>
          <p:cNvPr id="20" name="Image 0" descr="/Users/admin/Project/thaichar72/reports/analysis/G4_r18_g2init_randaug_20/confusion_matri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566160"/>
            <a:ext cx="5394960" cy="283464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48640" y="64008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ความผิดพลาดกระจุกที่ า/ๅ</a:t>
            </a:r>
            <a:endParaRPr lang="en-US" sz="1050" dirty="0"/>
          </a:p>
        </p:txBody>
      </p:sp>
      <p:pic>
        <p:nvPicPr>
          <p:cNvPr id="22" name="Image 1" descr="/Users/admin/Project/thaichar72/reports/analysis/G4_r18_g2init_randaug_20/per_class_recal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46520" y="3566160"/>
            <a:ext cx="5212080" cy="283464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446520" y="64008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recall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ระบบที่ใช้งานได้จริง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เครื่องมือ Triage ก่อนประเมินผลจริง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1554480"/>
          </a:xfrm>
          <a:prstGeom prst="roundRect">
            <a:avLst>
              <a:gd name="adj" fmla="val 5882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10543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FD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scripts/triage_input.py    --dir &lt;โฟลเดอร์ทดสอบ&gt;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FD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scripts/evaluate_folder.py --dir &lt;โฟลเดอร์&gt; --rotation-tta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ไม่ได้มีแค่โมเดล แต่มีเครื่องมือที่อ่านข้อมูลทดสอบก่อนแล้วบอกว่าควรรันยังไง เช่นถ้าตรวจพบว่าภาพหมุน มันจะบอกให้เปิดโหมดแก้การหมุน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709160"/>
            <a:ext cx="3200400" cy="1097280"/>
          </a:xfrm>
          <a:prstGeom prst="roundRect">
            <a:avLst>
              <a:gd name="adj" fmla="val 10000"/>
            </a:avLst>
          </a:prstGeom>
          <a:solidFill>
            <a:srgbClr val="F3F6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48006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8C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66/66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4223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ผ่านทั้งหมด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31920" y="4709160"/>
            <a:ext cx="3200400" cy="1097280"/>
          </a:xfrm>
          <a:prstGeom prst="roundRect">
            <a:avLst>
              <a:gd name="adj" fmla="val 10000"/>
            </a:avLst>
          </a:prstGeom>
          <a:solidFill>
            <a:srgbClr val="F3F6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069080" y="48006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8C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069080" y="54223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ที่รันได้จริง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สรุปและข้อจำกัด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D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828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99.02% ด้วย ResNet-18 + Transfer Learning 2 ชั้น + RandAugment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D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788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เลือกโมเดลจาก doc-disjoint split และการทดสอบความทนทาน ไม่ใช่จาก validation เฉย ๆ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49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D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37490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ข้อจำกัดที่รู้: 8 คลาสไม่มีภาพ validation เลย จึงยังพิสูจน์ผลของคลาสหางไม่ได้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93776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1229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512064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การบอกข้อจำกัดไม่ได้ทำให้เสียคะแนน แต่ทำให้ได้ความน่าเชื่อถือ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2026-09-23T03:49:04Z</dcterms:created>
  <dcterms:modified xsi:type="dcterms:W3CDTF">2026-09-23T03:49:04Z</dcterms:modified>
</cp:coreProperties>
</file>